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EF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345A2C1-5F46-E876-B75D-5B4F52998AA5}" v="628" dt="2026-05-05T04:45:43.2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A person in a suit&#10;&#10;AI-generated content may be incorrect.">
            <a:extLst>
              <a:ext uri="{FF2B5EF4-FFF2-40B4-BE49-F238E27FC236}">
                <a16:creationId xmlns:a16="http://schemas.microsoft.com/office/drawing/2014/main" id="{48C8056A-B5FA-FC82-3F10-F3B231C6A6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F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A9349-57BB-64AB-9C66-9E3AAB9D7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6FDC9F5-13AC-3A8A-BD38-8A7C11C10E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97890" y="-148377"/>
            <a:ext cx="7097746" cy="700781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6AD30EB-0CD8-95DE-3DA8-2798CDBA38EF}"/>
              </a:ext>
            </a:extLst>
          </p:cNvPr>
          <p:cNvSpPr txBox="1"/>
          <p:nvPr/>
        </p:nvSpPr>
        <p:spPr>
          <a:xfrm>
            <a:off x="1040825" y="676836"/>
            <a:ext cx="4249846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 dirty="0"/>
              <a:t>Raw </a:t>
            </a:r>
            <a:r>
              <a:rPr lang="en-US" sz="4000" b="1"/>
              <a:t>Dataset.</a:t>
            </a:r>
            <a:endParaRPr lang="en-US" sz="40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190098-A91F-67BA-F6F5-621F6CBC7F93}"/>
              </a:ext>
            </a:extLst>
          </p:cNvPr>
          <p:cNvSpPr txBox="1"/>
          <p:nvPr/>
        </p:nvSpPr>
        <p:spPr>
          <a:xfrm>
            <a:off x="284471" y="2212480"/>
            <a:ext cx="4539997" cy="33239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2400"/>
              <a:t>12 columns.</a:t>
            </a:r>
            <a:endParaRPr lang="en-US"/>
          </a:p>
          <a:p>
            <a:pPr marL="342900" indent="-342900">
              <a:buFont typeface="Arial"/>
              <a:buChar char="•"/>
            </a:pPr>
            <a:endParaRPr lang="en-US" sz="2400" dirty="0"/>
          </a:p>
          <a:p>
            <a:pPr marL="342900" indent="-342900">
              <a:buFont typeface="Arial"/>
              <a:buChar char="•"/>
            </a:pPr>
            <a:r>
              <a:rPr lang="en-US" sz="2400"/>
              <a:t>With a total of 5110 entries.</a:t>
            </a:r>
          </a:p>
          <a:p>
            <a:pPr marL="342900" indent="-342900">
              <a:buFont typeface="Arial"/>
              <a:buChar char="•"/>
            </a:pPr>
            <a:endParaRPr lang="en-US" sz="2400" dirty="0"/>
          </a:p>
          <a:p>
            <a:endParaRPr lang="en-US" sz="2400" dirty="0"/>
          </a:p>
          <a:p>
            <a:pPr>
              <a:buFont typeface="Arial"/>
            </a:pPr>
            <a:endParaRPr lang="en-US" dirty="0"/>
          </a:p>
          <a:p>
            <a:pPr>
              <a:buFont typeface="Arial"/>
            </a:pPr>
            <a:endParaRPr lang="en-US"/>
          </a:p>
          <a:p>
            <a:pPr>
              <a:buFont typeface="Arial"/>
            </a:pPr>
            <a:r>
              <a:rPr lang="en-US" err="1"/>
              <a:t>Obs</a:t>
            </a:r>
            <a:r>
              <a:rPr lang="en-US" dirty="0"/>
              <a:t>: Column numbers are 12 but the last </a:t>
            </a:r>
            <a:r>
              <a:rPr lang="en-US"/>
              <a:t>one is 11, because in python lists starts in 0.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07197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F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8C87C-BA13-A68C-CEDE-5913040F0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7" name="Content Placeholder 16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9F252985-E7C6-2C74-D5FD-0C612E48C9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3820"/>
            <a:ext cx="6354305" cy="2428473"/>
          </a:xfrm>
          <a:prstGeom prst="rect">
            <a:avLst/>
          </a:prstGeom>
        </p:spPr>
      </p:pic>
      <p:pic>
        <p:nvPicPr>
          <p:cNvPr id="18" name="Picture 17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CAF893A5-5801-EC17-308C-00FFA91B4F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473" y="2430811"/>
            <a:ext cx="6374164" cy="2203021"/>
          </a:xfrm>
          <a:prstGeom prst="rect">
            <a:avLst/>
          </a:prstGeom>
        </p:spPr>
      </p:pic>
      <p:pic>
        <p:nvPicPr>
          <p:cNvPr id="19" name="Picture 18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7BA0C9A2-D384-F4EA-DC42-E51C02943F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8" y="4642063"/>
            <a:ext cx="6343005" cy="221044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8DD0BFF-388A-CBF1-99B9-FB4723BBCE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8916" y="9524"/>
            <a:ext cx="5821390" cy="2434849"/>
          </a:xfrm>
          <a:prstGeom prst="rect">
            <a:avLst/>
          </a:prstGeom>
        </p:spPr>
      </p:pic>
      <p:pic>
        <p:nvPicPr>
          <p:cNvPr id="21" name="Picture 20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4FCADB0E-8490-3314-3066-CDD39804A7B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0125" y="2431619"/>
            <a:ext cx="5818969" cy="2201406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542E2090-E4E3-11FE-E9B8-3D7A28DA1EE2}"/>
              </a:ext>
            </a:extLst>
          </p:cNvPr>
          <p:cNvSpPr txBox="1"/>
          <p:nvPr/>
        </p:nvSpPr>
        <p:spPr>
          <a:xfrm>
            <a:off x="6583290" y="4782566"/>
            <a:ext cx="5460258" cy="209288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/>
              <a:t>Validation VS Test</a:t>
            </a:r>
            <a:endParaRPr lang="en-US"/>
          </a:p>
          <a:p>
            <a:r>
              <a:rPr lang="en-US">
                <a:ea typeface="+mn-lt"/>
                <a:cs typeface="+mn-lt"/>
              </a:rPr>
              <a:t>These graphs compare the performance of different machine learning models on validation and test datasets using metrics like precision, recall, accuracy, F1 score, and ROC-AUC to evaluate how well each model predicts stroke risk.</a:t>
            </a:r>
            <a:endParaRPr lang="en-US"/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6471373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F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C5B34-B42B-8551-BF27-8B69BB583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9FF6E6E3-7A13-1FC5-38E7-97CCC1CDC6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-5663"/>
            <a:ext cx="7801970" cy="686522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4B7B701-44A7-2A9E-2C0F-25D68062E5E4}"/>
              </a:ext>
            </a:extLst>
          </p:cNvPr>
          <p:cNvSpPr txBox="1"/>
          <p:nvPr/>
        </p:nvSpPr>
        <p:spPr>
          <a:xfrm>
            <a:off x="8031749" y="511827"/>
            <a:ext cx="3661532" cy="569386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dirty="0"/>
              <a:t>Final </a:t>
            </a:r>
            <a:r>
              <a:rPr lang="en-US" sz="2400" b="1"/>
              <a:t>Analyses</a:t>
            </a:r>
            <a:r>
              <a:rPr lang="en-US" sz="2400" b="1" dirty="0"/>
              <a:t>.</a:t>
            </a:r>
            <a:endParaRPr lang="en-US" sz="2400"/>
          </a:p>
          <a:p>
            <a:endParaRPr lang="en-US" dirty="0"/>
          </a:p>
          <a:p>
            <a:r>
              <a:rPr lang="en-US" dirty="0">
                <a:ea typeface="+mn-lt"/>
                <a:cs typeface="+mn-lt"/>
              </a:rPr>
              <a:t>Even though some models showed very high accuracy, they are not useful because they fail to detect positive cases. The best individual model is Logistic Regression because, it has a good balance between metrics, detects positive cases better and performs consistently.</a:t>
            </a:r>
          </a:p>
          <a:p>
            <a:endParaRPr lang="en-US" dirty="0"/>
          </a:p>
          <a:p>
            <a:r>
              <a:rPr lang="en-US" dirty="0" err="1"/>
              <a:t>Obs</a:t>
            </a:r>
            <a:r>
              <a:rPr lang="en-US" dirty="0"/>
              <a:t>: </a:t>
            </a:r>
            <a:r>
              <a:rPr lang="en-US" dirty="0">
                <a:ea typeface="+mn-lt"/>
                <a:cs typeface="+mn-lt"/>
              </a:rPr>
              <a:t>SVC is also a strong model, especially for recall. </a:t>
            </a:r>
          </a:p>
          <a:p>
            <a:endParaRPr lang="en-US" dirty="0"/>
          </a:p>
          <a:p>
            <a:r>
              <a:rPr lang="en-US">
                <a:ea typeface="+mn-lt"/>
                <a:cs typeface="+mn-lt"/>
              </a:rPr>
              <a:t>The ensemble model is the best overall because it combines multiple models and gives more reliable results.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08706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F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FDE3B6-DF66-80ED-050F-F202E10BD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64BD9D-0FED-2DE5-C01F-ACA6486915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35EAFF-5E92-E6BD-56AF-DD6BDE7B1F5E}"/>
              </a:ext>
            </a:extLst>
          </p:cNvPr>
          <p:cNvSpPr txBox="1"/>
          <p:nvPr/>
        </p:nvSpPr>
        <p:spPr>
          <a:xfrm>
            <a:off x="1604407" y="2673640"/>
            <a:ext cx="8977588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8000" b="1"/>
              <a:t>Thank You</a:t>
            </a:r>
            <a:endParaRPr lang="en-US" sz="8000"/>
          </a:p>
        </p:txBody>
      </p:sp>
    </p:spTree>
    <p:extLst>
      <p:ext uri="{BB962C8B-B14F-4D97-AF65-F5344CB8AC3E}">
        <p14:creationId xmlns:p14="http://schemas.microsoft.com/office/powerpoint/2010/main" val="37066172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160</cp:revision>
  <dcterms:created xsi:type="dcterms:W3CDTF">2026-05-05T00:49:55Z</dcterms:created>
  <dcterms:modified xsi:type="dcterms:W3CDTF">2026-05-05T04:46:17Z</dcterms:modified>
</cp:coreProperties>
</file>